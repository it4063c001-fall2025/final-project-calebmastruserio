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leb Mastruserio" userId="5b11a29d432f5f7b" providerId="LiveId" clId="{1DF8C94D-8ADF-4748-BE8B-9719862BEA86}"/>
    <pc:docChg chg="modSld">
      <pc:chgData name="Caleb Mastruserio" userId="5b11a29d432f5f7b" providerId="LiveId" clId="{1DF8C94D-8ADF-4748-BE8B-9719862BEA86}" dt="2026-04-24T18:45:59.431" v="9" actId="20577"/>
      <pc:docMkLst>
        <pc:docMk/>
      </pc:docMkLst>
      <pc:sldChg chg="modSp mod">
        <pc:chgData name="Caleb Mastruserio" userId="5b11a29d432f5f7b" providerId="LiveId" clId="{1DF8C94D-8ADF-4748-BE8B-9719862BEA86}" dt="2026-04-24T18:45:43.563" v="7" actId="20577"/>
        <pc:sldMkLst>
          <pc:docMk/>
          <pc:sldMk cId="2472947063" sldId="257"/>
        </pc:sldMkLst>
        <pc:spChg chg="mod">
          <ac:chgData name="Caleb Mastruserio" userId="5b11a29d432f5f7b" providerId="LiveId" clId="{1DF8C94D-8ADF-4748-BE8B-9719862BEA86}" dt="2026-04-24T18:45:43.563" v="7" actId="20577"/>
          <ac:spMkLst>
            <pc:docMk/>
            <pc:sldMk cId="2472947063" sldId="257"/>
            <ac:spMk id="3" creationId="{03D52CAD-983E-BC1C-D4AF-774D4E1BD17B}"/>
          </ac:spMkLst>
        </pc:spChg>
      </pc:sldChg>
      <pc:sldChg chg="modSp mod">
        <pc:chgData name="Caleb Mastruserio" userId="5b11a29d432f5f7b" providerId="LiveId" clId="{1DF8C94D-8ADF-4748-BE8B-9719862BEA86}" dt="2026-04-24T18:45:59.431" v="9" actId="20577"/>
        <pc:sldMkLst>
          <pc:docMk/>
          <pc:sldMk cId="4100591552" sldId="263"/>
        </pc:sldMkLst>
        <pc:spChg chg="mod">
          <ac:chgData name="Caleb Mastruserio" userId="5b11a29d432f5f7b" providerId="LiveId" clId="{1DF8C94D-8ADF-4748-BE8B-9719862BEA86}" dt="2026-04-24T18:45:59.431" v="9" actId="20577"/>
          <ac:spMkLst>
            <pc:docMk/>
            <pc:sldMk cId="4100591552" sldId="263"/>
            <ac:spMk id="3" creationId="{DBE34705-D2B0-E6E4-22E5-A7601CCEB2C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90CC3-A912-4650-7CDB-7747DDC473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F5E36E-A282-4050-DA3A-2AC4BA5A26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0D65A7-3775-4F86-A5AC-A14226904250}"/>
              </a:ext>
            </a:extLst>
          </p:cNvPr>
          <p:cNvSpPr>
            <a:spLocks noGrp="1"/>
          </p:cNvSpPr>
          <p:nvPr>
            <p:ph type="dt" sz="half" idx="10"/>
          </p:nvPr>
        </p:nvSpPr>
        <p:spPr/>
        <p:txBody>
          <a:bodyPr/>
          <a:lstStyle/>
          <a:p>
            <a:fld id="{EE51A901-D3CC-4D4F-82F3-2FE874712A52}" type="datetimeFigureOut">
              <a:rPr lang="en-US" smtClean="0"/>
              <a:t>4/24/2026</a:t>
            </a:fld>
            <a:endParaRPr lang="en-US"/>
          </a:p>
        </p:txBody>
      </p:sp>
      <p:sp>
        <p:nvSpPr>
          <p:cNvPr id="5" name="Footer Placeholder 4">
            <a:extLst>
              <a:ext uri="{FF2B5EF4-FFF2-40B4-BE49-F238E27FC236}">
                <a16:creationId xmlns:a16="http://schemas.microsoft.com/office/drawing/2014/main" id="{53106F22-2C4F-BCEB-772F-4F9A303997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2B4C0B-9E32-CAC2-BA7F-024A1B11B1C8}"/>
              </a:ext>
            </a:extLst>
          </p:cNvPr>
          <p:cNvSpPr>
            <a:spLocks noGrp="1"/>
          </p:cNvSpPr>
          <p:nvPr>
            <p:ph type="sldNum" sz="quarter" idx="12"/>
          </p:nvPr>
        </p:nvSpPr>
        <p:spPr/>
        <p:txBody>
          <a:bodyPr/>
          <a:lstStyle/>
          <a:p>
            <a:fld id="{C7318EF6-45AA-4F8B-B838-CE43894FA2D2}" type="slidenum">
              <a:rPr lang="en-US" smtClean="0"/>
              <a:t>‹#›</a:t>
            </a:fld>
            <a:endParaRPr lang="en-US"/>
          </a:p>
        </p:txBody>
      </p:sp>
    </p:spTree>
    <p:extLst>
      <p:ext uri="{BB962C8B-B14F-4D97-AF65-F5344CB8AC3E}">
        <p14:creationId xmlns:p14="http://schemas.microsoft.com/office/powerpoint/2010/main" val="429041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51AFC-6295-9300-64A2-7D08165493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855609-F83B-875F-F833-1EA4A28618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637D22-A7DC-B81E-8E83-AB906DC9A903}"/>
              </a:ext>
            </a:extLst>
          </p:cNvPr>
          <p:cNvSpPr>
            <a:spLocks noGrp="1"/>
          </p:cNvSpPr>
          <p:nvPr>
            <p:ph type="dt" sz="half" idx="10"/>
          </p:nvPr>
        </p:nvSpPr>
        <p:spPr/>
        <p:txBody>
          <a:bodyPr/>
          <a:lstStyle/>
          <a:p>
            <a:fld id="{EE51A901-D3CC-4D4F-82F3-2FE874712A52}" type="datetimeFigureOut">
              <a:rPr lang="en-US" smtClean="0"/>
              <a:t>4/24/2026</a:t>
            </a:fld>
            <a:endParaRPr lang="en-US"/>
          </a:p>
        </p:txBody>
      </p:sp>
      <p:sp>
        <p:nvSpPr>
          <p:cNvPr id="5" name="Footer Placeholder 4">
            <a:extLst>
              <a:ext uri="{FF2B5EF4-FFF2-40B4-BE49-F238E27FC236}">
                <a16:creationId xmlns:a16="http://schemas.microsoft.com/office/drawing/2014/main" id="{39F3D18E-BC2C-A49A-AE08-8C53C9EC32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8D7303-90A8-AE3D-C755-746F76EBCA1F}"/>
              </a:ext>
            </a:extLst>
          </p:cNvPr>
          <p:cNvSpPr>
            <a:spLocks noGrp="1"/>
          </p:cNvSpPr>
          <p:nvPr>
            <p:ph type="sldNum" sz="quarter" idx="12"/>
          </p:nvPr>
        </p:nvSpPr>
        <p:spPr/>
        <p:txBody>
          <a:bodyPr/>
          <a:lstStyle/>
          <a:p>
            <a:fld id="{C7318EF6-45AA-4F8B-B838-CE43894FA2D2}" type="slidenum">
              <a:rPr lang="en-US" smtClean="0"/>
              <a:t>‹#›</a:t>
            </a:fld>
            <a:endParaRPr lang="en-US"/>
          </a:p>
        </p:txBody>
      </p:sp>
    </p:spTree>
    <p:extLst>
      <p:ext uri="{BB962C8B-B14F-4D97-AF65-F5344CB8AC3E}">
        <p14:creationId xmlns:p14="http://schemas.microsoft.com/office/powerpoint/2010/main" val="1105097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02F68-6B0B-9C52-6BC9-28E40A40EB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C2BDF1-08EA-2966-D1E9-3D53B6636F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56C4F7-D3C4-17B6-3F24-D957EA1D21F9}"/>
              </a:ext>
            </a:extLst>
          </p:cNvPr>
          <p:cNvSpPr>
            <a:spLocks noGrp="1"/>
          </p:cNvSpPr>
          <p:nvPr>
            <p:ph type="dt" sz="half" idx="10"/>
          </p:nvPr>
        </p:nvSpPr>
        <p:spPr/>
        <p:txBody>
          <a:bodyPr/>
          <a:lstStyle/>
          <a:p>
            <a:fld id="{EE51A901-D3CC-4D4F-82F3-2FE874712A52}" type="datetimeFigureOut">
              <a:rPr lang="en-US" smtClean="0"/>
              <a:t>4/24/2026</a:t>
            </a:fld>
            <a:endParaRPr lang="en-US"/>
          </a:p>
        </p:txBody>
      </p:sp>
      <p:sp>
        <p:nvSpPr>
          <p:cNvPr id="5" name="Footer Placeholder 4">
            <a:extLst>
              <a:ext uri="{FF2B5EF4-FFF2-40B4-BE49-F238E27FC236}">
                <a16:creationId xmlns:a16="http://schemas.microsoft.com/office/drawing/2014/main" id="{233DD317-4B93-941C-BB9B-10BBDA63E2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D2BCE4-865C-6F66-BBA7-A1D70CF751F7}"/>
              </a:ext>
            </a:extLst>
          </p:cNvPr>
          <p:cNvSpPr>
            <a:spLocks noGrp="1"/>
          </p:cNvSpPr>
          <p:nvPr>
            <p:ph type="sldNum" sz="quarter" idx="12"/>
          </p:nvPr>
        </p:nvSpPr>
        <p:spPr/>
        <p:txBody>
          <a:bodyPr/>
          <a:lstStyle/>
          <a:p>
            <a:fld id="{C7318EF6-45AA-4F8B-B838-CE43894FA2D2}" type="slidenum">
              <a:rPr lang="en-US" smtClean="0"/>
              <a:t>‹#›</a:t>
            </a:fld>
            <a:endParaRPr lang="en-US"/>
          </a:p>
        </p:txBody>
      </p:sp>
    </p:spTree>
    <p:extLst>
      <p:ext uri="{BB962C8B-B14F-4D97-AF65-F5344CB8AC3E}">
        <p14:creationId xmlns:p14="http://schemas.microsoft.com/office/powerpoint/2010/main" val="1992934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4EFFB-61EC-F55C-98A8-0CF7F6E088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1A63E4-054E-9589-EBAD-12BC8F46A8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D1E85C-0D29-1B54-4CB8-4E7453AD71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4ABBA5-8216-BF35-58E7-96BB2E7AF4D6}"/>
              </a:ext>
            </a:extLst>
          </p:cNvPr>
          <p:cNvSpPr>
            <a:spLocks noGrp="1"/>
          </p:cNvSpPr>
          <p:nvPr>
            <p:ph type="dt" sz="half" idx="10"/>
          </p:nvPr>
        </p:nvSpPr>
        <p:spPr/>
        <p:txBody>
          <a:bodyPr/>
          <a:lstStyle/>
          <a:p>
            <a:fld id="{EE51A901-D3CC-4D4F-82F3-2FE874712A52}" type="datetimeFigureOut">
              <a:rPr lang="en-US" smtClean="0"/>
              <a:t>4/24/2026</a:t>
            </a:fld>
            <a:endParaRPr lang="en-US"/>
          </a:p>
        </p:txBody>
      </p:sp>
      <p:sp>
        <p:nvSpPr>
          <p:cNvPr id="6" name="Footer Placeholder 5">
            <a:extLst>
              <a:ext uri="{FF2B5EF4-FFF2-40B4-BE49-F238E27FC236}">
                <a16:creationId xmlns:a16="http://schemas.microsoft.com/office/drawing/2014/main" id="{EFAAD1D2-EFF2-147A-D634-04CBEBB57D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9FE34F-BFAB-AD86-D974-D8228991AEAF}"/>
              </a:ext>
            </a:extLst>
          </p:cNvPr>
          <p:cNvSpPr>
            <a:spLocks noGrp="1"/>
          </p:cNvSpPr>
          <p:nvPr>
            <p:ph type="sldNum" sz="quarter" idx="12"/>
          </p:nvPr>
        </p:nvSpPr>
        <p:spPr/>
        <p:txBody>
          <a:bodyPr/>
          <a:lstStyle/>
          <a:p>
            <a:fld id="{C7318EF6-45AA-4F8B-B838-CE43894FA2D2}" type="slidenum">
              <a:rPr lang="en-US" smtClean="0"/>
              <a:t>‹#›</a:t>
            </a:fld>
            <a:endParaRPr lang="en-US"/>
          </a:p>
        </p:txBody>
      </p:sp>
    </p:spTree>
    <p:extLst>
      <p:ext uri="{BB962C8B-B14F-4D97-AF65-F5344CB8AC3E}">
        <p14:creationId xmlns:p14="http://schemas.microsoft.com/office/powerpoint/2010/main" val="2569556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9A4F0-1EB1-EB0E-DD9B-9699924E91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83F909-7CCE-C26D-0122-C998D80B40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C67A85-5A35-B447-0697-FA41354A7B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824A0C-3149-9CE7-0B75-86335007E6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8B6549-C8F2-4F5F-C6F1-1A919F1464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78F3D2-3896-7DB1-79F2-77849A76E41D}"/>
              </a:ext>
            </a:extLst>
          </p:cNvPr>
          <p:cNvSpPr>
            <a:spLocks noGrp="1"/>
          </p:cNvSpPr>
          <p:nvPr>
            <p:ph type="dt" sz="half" idx="10"/>
          </p:nvPr>
        </p:nvSpPr>
        <p:spPr/>
        <p:txBody>
          <a:bodyPr/>
          <a:lstStyle/>
          <a:p>
            <a:fld id="{EE51A901-D3CC-4D4F-82F3-2FE874712A52}" type="datetimeFigureOut">
              <a:rPr lang="en-US" smtClean="0"/>
              <a:t>4/24/2026</a:t>
            </a:fld>
            <a:endParaRPr lang="en-US"/>
          </a:p>
        </p:txBody>
      </p:sp>
      <p:sp>
        <p:nvSpPr>
          <p:cNvPr id="8" name="Footer Placeholder 7">
            <a:extLst>
              <a:ext uri="{FF2B5EF4-FFF2-40B4-BE49-F238E27FC236}">
                <a16:creationId xmlns:a16="http://schemas.microsoft.com/office/drawing/2014/main" id="{E7A1EB34-0374-C286-F801-D2C7F40BA5A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C92B1D-C0DC-1DED-F0C7-3A87FBBF0DB5}"/>
              </a:ext>
            </a:extLst>
          </p:cNvPr>
          <p:cNvSpPr>
            <a:spLocks noGrp="1"/>
          </p:cNvSpPr>
          <p:nvPr>
            <p:ph type="sldNum" sz="quarter" idx="12"/>
          </p:nvPr>
        </p:nvSpPr>
        <p:spPr/>
        <p:txBody>
          <a:bodyPr/>
          <a:lstStyle/>
          <a:p>
            <a:fld id="{C7318EF6-45AA-4F8B-B838-CE43894FA2D2}" type="slidenum">
              <a:rPr lang="en-US" smtClean="0"/>
              <a:t>‹#›</a:t>
            </a:fld>
            <a:endParaRPr lang="en-US"/>
          </a:p>
        </p:txBody>
      </p:sp>
    </p:spTree>
    <p:extLst>
      <p:ext uri="{BB962C8B-B14F-4D97-AF65-F5344CB8AC3E}">
        <p14:creationId xmlns:p14="http://schemas.microsoft.com/office/powerpoint/2010/main" val="3472083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10C6E-D463-C358-3AAC-BA4C2754CE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4151FA-AC23-353C-4A1C-C952523BC1D7}"/>
              </a:ext>
            </a:extLst>
          </p:cNvPr>
          <p:cNvSpPr>
            <a:spLocks noGrp="1"/>
          </p:cNvSpPr>
          <p:nvPr>
            <p:ph type="dt" sz="half" idx="10"/>
          </p:nvPr>
        </p:nvSpPr>
        <p:spPr/>
        <p:txBody>
          <a:bodyPr/>
          <a:lstStyle/>
          <a:p>
            <a:fld id="{EE51A901-D3CC-4D4F-82F3-2FE874712A52}" type="datetimeFigureOut">
              <a:rPr lang="en-US" smtClean="0"/>
              <a:t>4/24/2026</a:t>
            </a:fld>
            <a:endParaRPr lang="en-US"/>
          </a:p>
        </p:txBody>
      </p:sp>
      <p:sp>
        <p:nvSpPr>
          <p:cNvPr id="4" name="Footer Placeholder 3">
            <a:extLst>
              <a:ext uri="{FF2B5EF4-FFF2-40B4-BE49-F238E27FC236}">
                <a16:creationId xmlns:a16="http://schemas.microsoft.com/office/drawing/2014/main" id="{68BC2448-82B3-4225-D487-1CD1DB1323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96A2CB-DD23-F528-FA61-01FD014C9E4D}"/>
              </a:ext>
            </a:extLst>
          </p:cNvPr>
          <p:cNvSpPr>
            <a:spLocks noGrp="1"/>
          </p:cNvSpPr>
          <p:nvPr>
            <p:ph type="sldNum" sz="quarter" idx="12"/>
          </p:nvPr>
        </p:nvSpPr>
        <p:spPr/>
        <p:txBody>
          <a:bodyPr/>
          <a:lstStyle/>
          <a:p>
            <a:fld id="{C7318EF6-45AA-4F8B-B838-CE43894FA2D2}" type="slidenum">
              <a:rPr lang="en-US" smtClean="0"/>
              <a:t>‹#›</a:t>
            </a:fld>
            <a:endParaRPr lang="en-US"/>
          </a:p>
        </p:txBody>
      </p:sp>
    </p:spTree>
    <p:extLst>
      <p:ext uri="{BB962C8B-B14F-4D97-AF65-F5344CB8AC3E}">
        <p14:creationId xmlns:p14="http://schemas.microsoft.com/office/powerpoint/2010/main" val="829823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705B99-B4C2-72BF-60C8-EB28AE5F1918}"/>
              </a:ext>
            </a:extLst>
          </p:cNvPr>
          <p:cNvSpPr>
            <a:spLocks noGrp="1"/>
          </p:cNvSpPr>
          <p:nvPr>
            <p:ph type="dt" sz="half" idx="10"/>
          </p:nvPr>
        </p:nvSpPr>
        <p:spPr/>
        <p:txBody>
          <a:bodyPr/>
          <a:lstStyle/>
          <a:p>
            <a:fld id="{EE51A901-D3CC-4D4F-82F3-2FE874712A52}" type="datetimeFigureOut">
              <a:rPr lang="en-US" smtClean="0"/>
              <a:t>4/24/2026</a:t>
            </a:fld>
            <a:endParaRPr lang="en-US"/>
          </a:p>
        </p:txBody>
      </p:sp>
      <p:sp>
        <p:nvSpPr>
          <p:cNvPr id="3" name="Footer Placeholder 2">
            <a:extLst>
              <a:ext uri="{FF2B5EF4-FFF2-40B4-BE49-F238E27FC236}">
                <a16:creationId xmlns:a16="http://schemas.microsoft.com/office/drawing/2014/main" id="{F8B61725-D9BC-2E99-BA38-CC5323042D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EFC4AC3-CE29-4474-2C84-63D427EC5CFB}"/>
              </a:ext>
            </a:extLst>
          </p:cNvPr>
          <p:cNvSpPr>
            <a:spLocks noGrp="1"/>
          </p:cNvSpPr>
          <p:nvPr>
            <p:ph type="sldNum" sz="quarter" idx="12"/>
          </p:nvPr>
        </p:nvSpPr>
        <p:spPr/>
        <p:txBody>
          <a:bodyPr/>
          <a:lstStyle/>
          <a:p>
            <a:fld id="{C7318EF6-45AA-4F8B-B838-CE43894FA2D2}" type="slidenum">
              <a:rPr lang="en-US" smtClean="0"/>
              <a:t>‹#›</a:t>
            </a:fld>
            <a:endParaRPr lang="en-US"/>
          </a:p>
        </p:txBody>
      </p:sp>
    </p:spTree>
    <p:extLst>
      <p:ext uri="{BB962C8B-B14F-4D97-AF65-F5344CB8AC3E}">
        <p14:creationId xmlns:p14="http://schemas.microsoft.com/office/powerpoint/2010/main" val="1980814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2B1D7-3B88-0C1A-CCB5-BD845A7C98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CCB7AB7-EDF0-E34D-A89A-267129C9BD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DFB5D0-C257-439B-5FCE-C8C30497AA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F57AD2-D77F-6473-F95D-A64F293D2266}"/>
              </a:ext>
            </a:extLst>
          </p:cNvPr>
          <p:cNvSpPr>
            <a:spLocks noGrp="1"/>
          </p:cNvSpPr>
          <p:nvPr>
            <p:ph type="dt" sz="half" idx="10"/>
          </p:nvPr>
        </p:nvSpPr>
        <p:spPr/>
        <p:txBody>
          <a:bodyPr/>
          <a:lstStyle/>
          <a:p>
            <a:fld id="{EE51A901-D3CC-4D4F-82F3-2FE874712A52}" type="datetimeFigureOut">
              <a:rPr lang="en-US" smtClean="0"/>
              <a:t>4/24/2026</a:t>
            </a:fld>
            <a:endParaRPr lang="en-US"/>
          </a:p>
        </p:txBody>
      </p:sp>
      <p:sp>
        <p:nvSpPr>
          <p:cNvPr id="6" name="Footer Placeholder 5">
            <a:extLst>
              <a:ext uri="{FF2B5EF4-FFF2-40B4-BE49-F238E27FC236}">
                <a16:creationId xmlns:a16="http://schemas.microsoft.com/office/drawing/2014/main" id="{9CF21F4A-954B-1FE2-26C7-4CFB1C7DD2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328F02-C923-F49F-9855-2AD3210A4712}"/>
              </a:ext>
            </a:extLst>
          </p:cNvPr>
          <p:cNvSpPr>
            <a:spLocks noGrp="1"/>
          </p:cNvSpPr>
          <p:nvPr>
            <p:ph type="sldNum" sz="quarter" idx="12"/>
          </p:nvPr>
        </p:nvSpPr>
        <p:spPr/>
        <p:txBody>
          <a:bodyPr/>
          <a:lstStyle/>
          <a:p>
            <a:fld id="{C7318EF6-45AA-4F8B-B838-CE43894FA2D2}" type="slidenum">
              <a:rPr lang="en-US" smtClean="0"/>
              <a:t>‹#›</a:t>
            </a:fld>
            <a:endParaRPr lang="en-US"/>
          </a:p>
        </p:txBody>
      </p:sp>
    </p:spTree>
    <p:extLst>
      <p:ext uri="{BB962C8B-B14F-4D97-AF65-F5344CB8AC3E}">
        <p14:creationId xmlns:p14="http://schemas.microsoft.com/office/powerpoint/2010/main" val="1211507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D2E7C-1411-4F51-3BD5-16C98E873C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B71546-32AB-570E-21F2-12FBDF6D0D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60C850-F12A-5430-116F-F320060A69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BA679B-8A48-A82E-DDED-06C63DF7C148}"/>
              </a:ext>
            </a:extLst>
          </p:cNvPr>
          <p:cNvSpPr>
            <a:spLocks noGrp="1"/>
          </p:cNvSpPr>
          <p:nvPr>
            <p:ph type="dt" sz="half" idx="10"/>
          </p:nvPr>
        </p:nvSpPr>
        <p:spPr/>
        <p:txBody>
          <a:bodyPr/>
          <a:lstStyle/>
          <a:p>
            <a:fld id="{EE51A901-D3CC-4D4F-82F3-2FE874712A52}" type="datetimeFigureOut">
              <a:rPr lang="en-US" smtClean="0"/>
              <a:t>4/24/2026</a:t>
            </a:fld>
            <a:endParaRPr lang="en-US"/>
          </a:p>
        </p:txBody>
      </p:sp>
      <p:sp>
        <p:nvSpPr>
          <p:cNvPr id="6" name="Footer Placeholder 5">
            <a:extLst>
              <a:ext uri="{FF2B5EF4-FFF2-40B4-BE49-F238E27FC236}">
                <a16:creationId xmlns:a16="http://schemas.microsoft.com/office/drawing/2014/main" id="{A6FFB33B-97F8-98D4-914A-7364EA583D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82CEB1-54AD-D60D-574E-7073302FF72B}"/>
              </a:ext>
            </a:extLst>
          </p:cNvPr>
          <p:cNvSpPr>
            <a:spLocks noGrp="1"/>
          </p:cNvSpPr>
          <p:nvPr>
            <p:ph type="sldNum" sz="quarter" idx="12"/>
          </p:nvPr>
        </p:nvSpPr>
        <p:spPr/>
        <p:txBody>
          <a:bodyPr/>
          <a:lstStyle/>
          <a:p>
            <a:fld id="{C7318EF6-45AA-4F8B-B838-CE43894FA2D2}" type="slidenum">
              <a:rPr lang="en-US" smtClean="0"/>
              <a:t>‹#›</a:t>
            </a:fld>
            <a:endParaRPr lang="en-US"/>
          </a:p>
        </p:txBody>
      </p:sp>
    </p:spTree>
    <p:extLst>
      <p:ext uri="{BB962C8B-B14F-4D97-AF65-F5344CB8AC3E}">
        <p14:creationId xmlns:p14="http://schemas.microsoft.com/office/powerpoint/2010/main" val="3342290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BF31E-8E2D-8CAC-DAB1-5BB11E73A70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2E8879-B4D9-A20B-28AC-E3365D24B4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44EC41-EAC6-48F5-6A09-158AC48D4E8F}"/>
              </a:ext>
            </a:extLst>
          </p:cNvPr>
          <p:cNvSpPr>
            <a:spLocks noGrp="1"/>
          </p:cNvSpPr>
          <p:nvPr>
            <p:ph type="dt" sz="half" idx="10"/>
          </p:nvPr>
        </p:nvSpPr>
        <p:spPr/>
        <p:txBody>
          <a:bodyPr/>
          <a:lstStyle/>
          <a:p>
            <a:fld id="{EE51A901-D3CC-4D4F-82F3-2FE874712A52}" type="datetimeFigureOut">
              <a:rPr lang="en-US" smtClean="0"/>
              <a:t>4/24/2026</a:t>
            </a:fld>
            <a:endParaRPr lang="en-US"/>
          </a:p>
        </p:txBody>
      </p:sp>
      <p:sp>
        <p:nvSpPr>
          <p:cNvPr id="5" name="Footer Placeholder 4">
            <a:extLst>
              <a:ext uri="{FF2B5EF4-FFF2-40B4-BE49-F238E27FC236}">
                <a16:creationId xmlns:a16="http://schemas.microsoft.com/office/drawing/2014/main" id="{EEED24FA-0D23-D53F-4E96-12CBF85445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4007C6-FA58-1E91-2A89-39CE17481AA2}"/>
              </a:ext>
            </a:extLst>
          </p:cNvPr>
          <p:cNvSpPr>
            <a:spLocks noGrp="1"/>
          </p:cNvSpPr>
          <p:nvPr>
            <p:ph type="sldNum" sz="quarter" idx="12"/>
          </p:nvPr>
        </p:nvSpPr>
        <p:spPr/>
        <p:txBody>
          <a:bodyPr/>
          <a:lstStyle/>
          <a:p>
            <a:fld id="{C7318EF6-45AA-4F8B-B838-CE43894FA2D2}" type="slidenum">
              <a:rPr lang="en-US" smtClean="0"/>
              <a:t>‹#›</a:t>
            </a:fld>
            <a:endParaRPr lang="en-US"/>
          </a:p>
        </p:txBody>
      </p:sp>
    </p:spTree>
    <p:extLst>
      <p:ext uri="{BB962C8B-B14F-4D97-AF65-F5344CB8AC3E}">
        <p14:creationId xmlns:p14="http://schemas.microsoft.com/office/powerpoint/2010/main" val="79201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C28FE0-A10D-63F3-7F5A-F862461D02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1F2487-23CE-DB2E-DAAA-BA68B29AB8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51B917-A2F2-9365-796D-7368DA95A93B}"/>
              </a:ext>
            </a:extLst>
          </p:cNvPr>
          <p:cNvSpPr>
            <a:spLocks noGrp="1"/>
          </p:cNvSpPr>
          <p:nvPr>
            <p:ph type="dt" sz="half" idx="10"/>
          </p:nvPr>
        </p:nvSpPr>
        <p:spPr/>
        <p:txBody>
          <a:bodyPr/>
          <a:lstStyle/>
          <a:p>
            <a:fld id="{EE51A901-D3CC-4D4F-82F3-2FE874712A52}" type="datetimeFigureOut">
              <a:rPr lang="en-US" smtClean="0"/>
              <a:t>4/24/2026</a:t>
            </a:fld>
            <a:endParaRPr lang="en-US"/>
          </a:p>
        </p:txBody>
      </p:sp>
      <p:sp>
        <p:nvSpPr>
          <p:cNvPr id="5" name="Footer Placeholder 4">
            <a:extLst>
              <a:ext uri="{FF2B5EF4-FFF2-40B4-BE49-F238E27FC236}">
                <a16:creationId xmlns:a16="http://schemas.microsoft.com/office/drawing/2014/main" id="{B596A083-CDEA-0D3D-051E-45888BC83C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81410A-B429-E734-EA2C-FF151A721CAA}"/>
              </a:ext>
            </a:extLst>
          </p:cNvPr>
          <p:cNvSpPr>
            <a:spLocks noGrp="1"/>
          </p:cNvSpPr>
          <p:nvPr>
            <p:ph type="sldNum" sz="quarter" idx="12"/>
          </p:nvPr>
        </p:nvSpPr>
        <p:spPr/>
        <p:txBody>
          <a:bodyPr/>
          <a:lstStyle/>
          <a:p>
            <a:fld id="{C7318EF6-45AA-4F8B-B838-CE43894FA2D2}" type="slidenum">
              <a:rPr lang="en-US" smtClean="0"/>
              <a:t>‹#›</a:t>
            </a:fld>
            <a:endParaRPr lang="en-US"/>
          </a:p>
        </p:txBody>
      </p:sp>
    </p:spTree>
    <p:extLst>
      <p:ext uri="{BB962C8B-B14F-4D97-AF65-F5344CB8AC3E}">
        <p14:creationId xmlns:p14="http://schemas.microsoft.com/office/powerpoint/2010/main" val="570929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06A869-D3C2-AD61-E144-87189B86A7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6D7593-4C84-573C-CE31-9AC1EC866D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3A4F66-8ADA-5CEA-6FE2-D8EA273B65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51A901-D3CC-4D4F-82F3-2FE874712A52}" type="datetimeFigureOut">
              <a:rPr lang="en-US" smtClean="0"/>
              <a:t>4/24/2026</a:t>
            </a:fld>
            <a:endParaRPr lang="en-US"/>
          </a:p>
        </p:txBody>
      </p:sp>
      <p:sp>
        <p:nvSpPr>
          <p:cNvPr id="5" name="Footer Placeholder 4">
            <a:extLst>
              <a:ext uri="{FF2B5EF4-FFF2-40B4-BE49-F238E27FC236}">
                <a16:creationId xmlns:a16="http://schemas.microsoft.com/office/drawing/2014/main" id="{D51C4207-2F49-FABF-8C30-8DD02D57A3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D6B9F1F-9488-85DB-3839-4726B864FC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318EF6-45AA-4F8B-B838-CE43894FA2D2}" type="slidenum">
              <a:rPr lang="en-US" smtClean="0"/>
              <a:t>‹#›</a:t>
            </a:fld>
            <a:endParaRPr lang="en-US"/>
          </a:p>
        </p:txBody>
      </p:sp>
    </p:spTree>
    <p:extLst>
      <p:ext uri="{BB962C8B-B14F-4D97-AF65-F5344CB8AC3E}">
        <p14:creationId xmlns:p14="http://schemas.microsoft.com/office/powerpoint/2010/main" val="27834441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fred.stlouisfed.org/series/CUSR0000SETD" TargetMode="External"/><Relationship Id="rId2" Type="http://schemas.openxmlformats.org/officeDocument/2006/relationships/hyperlink" Target="https://carmd.com/pages/vehicle-health-index" TargetMode="External"/><Relationship Id="rId1" Type="http://schemas.openxmlformats.org/officeDocument/2006/relationships/slideLayout" Target="../slideLayouts/slideLayout2.xml"/><Relationship Id="rId4" Type="http://schemas.openxmlformats.org/officeDocument/2006/relationships/hyperlink" Target="https://www.kaggle.com/datasets/shorooq77/car-parts-price-estim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5EDFA7-3B56-8743-1224-829D4FFC4A16}"/>
              </a:ext>
            </a:extLst>
          </p:cNvPr>
          <p:cNvSpPr>
            <a:spLocks noGrp="1"/>
          </p:cNvSpPr>
          <p:nvPr>
            <p:ph type="ctrTitle"/>
          </p:nvPr>
        </p:nvSpPr>
        <p:spPr>
          <a:xfrm>
            <a:off x="638882" y="3577456"/>
            <a:ext cx="10909640" cy="1687814"/>
          </a:xfrm>
        </p:spPr>
        <p:txBody>
          <a:bodyPr anchor="b">
            <a:normAutofit/>
          </a:bodyPr>
          <a:lstStyle/>
          <a:p>
            <a:r>
              <a:rPr lang="en-US" sz="5600" b="1" dirty="0"/>
              <a:t> Right to Repair Movement Analysis</a:t>
            </a:r>
            <a:endParaRPr lang="en-US" sz="5600" dirty="0"/>
          </a:p>
        </p:txBody>
      </p:sp>
      <p:sp>
        <p:nvSpPr>
          <p:cNvPr id="3" name="Subtitle 2">
            <a:extLst>
              <a:ext uri="{FF2B5EF4-FFF2-40B4-BE49-F238E27FC236}">
                <a16:creationId xmlns:a16="http://schemas.microsoft.com/office/drawing/2014/main" id="{F17CB2E2-B909-D4D3-8B66-544AB65F8D27}"/>
              </a:ext>
            </a:extLst>
          </p:cNvPr>
          <p:cNvSpPr>
            <a:spLocks noGrp="1"/>
          </p:cNvSpPr>
          <p:nvPr>
            <p:ph type="subTitle" idx="1"/>
          </p:nvPr>
        </p:nvSpPr>
        <p:spPr>
          <a:xfrm>
            <a:off x="638881" y="5660607"/>
            <a:ext cx="10909643" cy="552659"/>
          </a:xfrm>
        </p:spPr>
        <p:txBody>
          <a:bodyPr anchor="t">
            <a:normAutofit/>
          </a:bodyPr>
          <a:lstStyle/>
          <a:p>
            <a:r>
              <a:rPr lang="en-US" dirty="0"/>
              <a:t>Caleb Mastruserio</a:t>
            </a:r>
          </a:p>
        </p:txBody>
      </p:sp>
      <p:pic>
        <p:nvPicPr>
          <p:cNvPr id="1028" name="Picture 4" descr="MANN+HUMMEL NA Aftermarket Shows Right ...">
            <a:extLst>
              <a:ext uri="{FF2B5EF4-FFF2-40B4-BE49-F238E27FC236}">
                <a16:creationId xmlns:a16="http://schemas.microsoft.com/office/drawing/2014/main" id="{6E3C2972-D7CD-21FA-F624-117E1C8CCEB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351698" y="591670"/>
            <a:ext cx="5484008" cy="2742004"/>
          </a:xfrm>
          <a:prstGeom prst="rect">
            <a:avLst/>
          </a:prstGeom>
          <a:noFill/>
          <a:extLst>
            <a:ext uri="{909E8E84-426E-40DD-AFC4-6F175D3DCCD1}">
              <a14:hiddenFill xmlns:a14="http://schemas.microsoft.com/office/drawing/2010/main">
                <a:solidFill>
                  <a:srgbClr val="FFFFFF"/>
                </a:solidFill>
              </a14:hiddenFill>
            </a:ext>
          </a:extLst>
        </p:spPr>
      </p:pic>
      <p:sp>
        <p:nvSpPr>
          <p:cNvPr id="1035"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1890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61839-8476-4BBC-7993-4CBD0E628D23}"/>
              </a:ext>
            </a:extLst>
          </p:cNvPr>
          <p:cNvSpPr>
            <a:spLocks noGrp="1"/>
          </p:cNvSpPr>
          <p:nvPr>
            <p:ph type="title"/>
          </p:nvPr>
        </p:nvSpPr>
        <p:spPr/>
        <p:txBody>
          <a:bodyPr/>
          <a:lstStyle/>
          <a:p>
            <a:r>
              <a:rPr lang="en-US" dirty="0"/>
              <a:t>The Problem: New Vehicle Construction</a:t>
            </a:r>
          </a:p>
        </p:txBody>
      </p:sp>
      <p:sp>
        <p:nvSpPr>
          <p:cNvPr id="3" name="Content Placeholder 2">
            <a:extLst>
              <a:ext uri="{FF2B5EF4-FFF2-40B4-BE49-F238E27FC236}">
                <a16:creationId xmlns:a16="http://schemas.microsoft.com/office/drawing/2014/main" id="{03D52CAD-983E-BC1C-D4AF-774D4E1BD17B}"/>
              </a:ext>
            </a:extLst>
          </p:cNvPr>
          <p:cNvSpPr>
            <a:spLocks noGrp="1"/>
          </p:cNvSpPr>
          <p:nvPr>
            <p:ph idx="1"/>
          </p:nvPr>
        </p:nvSpPr>
        <p:spPr/>
        <p:txBody>
          <a:bodyPr>
            <a:normAutofit fontScale="85000" lnSpcReduction="10000"/>
          </a:bodyPr>
          <a:lstStyle/>
          <a:p>
            <a:r>
              <a:rPr lang="en-US" dirty="0"/>
              <a:t>The research issue I am trying to address is the Right to Repair Movement. The growing problem at hand is in the modern construction and design of new vehicles today, being made so the average mechanic or even DIYer cannot work on or repair their own car without taking it to the manufacturer for specialized work. Being a growing problem in the modern automotive industry as newer cars become more and more complex and complicated to work on and repair. With modules upon modules to service and scan that require dealer-only diagnostic equipment and software, this prevents many car owners from DIYers to small independent shops from servicing and working on their cars without taking them to the expensive dealership. </a:t>
            </a:r>
          </a:p>
          <a:p>
            <a:r>
              <a:rPr lang="en-US" dirty="0"/>
              <a:t>The question I am seeking to answer is how much more expensive are dealerships in conjunction with the growing requirement of proprietary software in cars compare to in cost of independent shops or even DIYers and what role can the Right to Repair Movement play in reducing those costs?</a:t>
            </a:r>
          </a:p>
          <a:p>
            <a:endParaRPr lang="en-US" dirty="0"/>
          </a:p>
          <a:p>
            <a:endParaRPr lang="en-US" dirty="0"/>
          </a:p>
        </p:txBody>
      </p:sp>
    </p:spTree>
    <p:extLst>
      <p:ext uri="{BB962C8B-B14F-4D97-AF65-F5344CB8AC3E}">
        <p14:creationId xmlns:p14="http://schemas.microsoft.com/office/powerpoint/2010/main" val="2472947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8232D-D5CC-F490-649C-6FEFF46F7A66}"/>
              </a:ext>
            </a:extLst>
          </p:cNvPr>
          <p:cNvSpPr>
            <a:spLocks noGrp="1"/>
          </p:cNvSpPr>
          <p:nvPr>
            <p:ph type="title"/>
          </p:nvPr>
        </p:nvSpPr>
        <p:spPr/>
        <p:txBody>
          <a:bodyPr/>
          <a:lstStyle/>
          <a:p>
            <a:r>
              <a:rPr lang="en-US" dirty="0"/>
              <a:t>The Idea: </a:t>
            </a:r>
          </a:p>
        </p:txBody>
      </p:sp>
      <p:sp>
        <p:nvSpPr>
          <p:cNvPr id="3" name="Content Placeholder 2">
            <a:extLst>
              <a:ext uri="{FF2B5EF4-FFF2-40B4-BE49-F238E27FC236}">
                <a16:creationId xmlns:a16="http://schemas.microsoft.com/office/drawing/2014/main" id="{14968735-3B95-BC7A-1534-350A9A0BCE39}"/>
              </a:ext>
            </a:extLst>
          </p:cNvPr>
          <p:cNvSpPr>
            <a:spLocks noGrp="1"/>
          </p:cNvSpPr>
          <p:nvPr>
            <p:ph idx="1"/>
          </p:nvPr>
        </p:nvSpPr>
        <p:spPr/>
        <p:txBody>
          <a:bodyPr/>
          <a:lstStyle/>
          <a:p>
            <a:r>
              <a:rPr lang="en-US" dirty="0"/>
              <a:t>The average cost of modern vehicles and repairs of newer cars have increase significantly. With the technological shift from mechanically driven, simple, and easy to work on cars that were once software independent, have raised modern day repair costs and restricted consumer choice. The right to repair movement offers a solution to the growing complexity of modern construction automobiles by leveling the grounds between the big name dealerships and independent shops and DIYers, reducing the costs of repairs and giving vehicle owners a choice in where to service their vehicles.</a:t>
            </a:r>
          </a:p>
          <a:p>
            <a:endParaRPr lang="en-US" dirty="0"/>
          </a:p>
        </p:txBody>
      </p:sp>
    </p:spTree>
    <p:extLst>
      <p:ext uri="{BB962C8B-B14F-4D97-AF65-F5344CB8AC3E}">
        <p14:creationId xmlns:p14="http://schemas.microsoft.com/office/powerpoint/2010/main" val="1627157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79241-1891-F085-309E-0C0C1130D5D5}"/>
              </a:ext>
            </a:extLst>
          </p:cNvPr>
          <p:cNvSpPr>
            <a:spLocks noGrp="1"/>
          </p:cNvSpPr>
          <p:nvPr>
            <p:ph type="title"/>
          </p:nvPr>
        </p:nvSpPr>
        <p:spPr/>
        <p:txBody>
          <a:bodyPr/>
          <a:lstStyle/>
          <a:p>
            <a:r>
              <a:rPr lang="en-US" dirty="0"/>
              <a:t>The Development: Data Sources</a:t>
            </a:r>
          </a:p>
        </p:txBody>
      </p:sp>
      <p:sp>
        <p:nvSpPr>
          <p:cNvPr id="3" name="Content Placeholder 2">
            <a:extLst>
              <a:ext uri="{FF2B5EF4-FFF2-40B4-BE49-F238E27FC236}">
                <a16:creationId xmlns:a16="http://schemas.microsoft.com/office/drawing/2014/main" id="{C9B2A895-8B26-B79B-8FE8-F8F312152414}"/>
              </a:ext>
            </a:extLst>
          </p:cNvPr>
          <p:cNvSpPr>
            <a:spLocks noGrp="1"/>
          </p:cNvSpPr>
          <p:nvPr>
            <p:ph idx="1"/>
          </p:nvPr>
        </p:nvSpPr>
        <p:spPr/>
        <p:txBody>
          <a:bodyPr>
            <a:normAutofit fontScale="77500" lnSpcReduction="20000"/>
          </a:bodyPr>
          <a:lstStyle/>
          <a:p>
            <a:pPr marL="514350" indent="-514350">
              <a:buFont typeface="+mj-lt"/>
              <a:buAutoNum type="arabicPeriod"/>
            </a:pPr>
            <a:r>
              <a:rPr lang="en-US" dirty="0"/>
              <a:t>The first data source I am going to be using is the Vehicle Health Index by CarMD. This is going to provide me with information to show the costs of over older VS newer vehicles and their associated repair costs which shows how software dependencies can raise repair prices. I will relate this data source because it provides me with a breakdown in measuring the average annual repair costs among varying categories of repair and shows how the costs of automotive repair have increased over time. </a:t>
            </a:r>
          </a:p>
          <a:p>
            <a:pPr marL="514350" indent="-514350">
              <a:buFont typeface="+mj-lt"/>
              <a:buAutoNum type="arabicPeriod"/>
            </a:pPr>
            <a:r>
              <a:rPr lang="en-US" dirty="0"/>
              <a:t>The second data source I will use is the Consumer Price Index for All Urban Consumers: Motor Vehicle Maintenance and Repair in U.S. City Average. This is going to show me the cost of vehicle maintenance by year to display the rising costs of automotive repair costs. This will be related by displaying with direct visual information how the costs of vehicle maintenance has increased throughout the years. </a:t>
            </a:r>
          </a:p>
          <a:p>
            <a:pPr marL="514350" indent="-514350">
              <a:buFont typeface="+mj-lt"/>
              <a:buAutoNum type="arabicPeriod"/>
            </a:pPr>
            <a:r>
              <a:rPr lang="en-US" dirty="0"/>
              <a:t>The final data source </a:t>
            </a:r>
            <a:r>
              <a:rPr lang="en-US" dirty="0" err="1"/>
              <a:t>i</a:t>
            </a:r>
            <a:r>
              <a:rPr lang="en-US" dirty="0"/>
              <a:t> will be using is a database provided from kaggle.com, the "Car Parts Price Estimation Dataset." This dataset will provide me with an example cost breakdown of the prices of common parts found to repair a Toyota Camry. This will display the increase in cost over a span of a few years. </a:t>
            </a:r>
          </a:p>
          <a:p>
            <a:pPr marL="514350" indent="-514350">
              <a:buFont typeface="+mj-lt"/>
              <a:buAutoNum type="arabicPeriod"/>
            </a:pPr>
            <a:endParaRPr lang="en-US" dirty="0"/>
          </a:p>
        </p:txBody>
      </p:sp>
    </p:spTree>
    <p:extLst>
      <p:ext uri="{BB962C8B-B14F-4D97-AF65-F5344CB8AC3E}">
        <p14:creationId xmlns:p14="http://schemas.microsoft.com/office/powerpoint/2010/main" val="4086652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7"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078" name="Rectangle 2077">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C42AA5-D9E1-15A9-6460-2DC6B3F79E5B}"/>
              </a:ext>
            </a:extLst>
          </p:cNvPr>
          <p:cNvSpPr>
            <a:spLocks noGrp="1"/>
          </p:cNvSpPr>
          <p:nvPr>
            <p:ph type="title"/>
          </p:nvPr>
        </p:nvSpPr>
        <p:spPr>
          <a:xfrm>
            <a:off x="761995" y="307447"/>
            <a:ext cx="10693884" cy="1109932"/>
          </a:xfrm>
        </p:spPr>
        <p:txBody>
          <a:bodyPr vert="horz" lIns="91440" tIns="45720" rIns="91440" bIns="45720" rtlCol="0">
            <a:normAutofit/>
          </a:bodyPr>
          <a:lstStyle/>
          <a:p>
            <a:r>
              <a:rPr lang="en-US" sz="4000" dirty="0"/>
              <a:t>Demo/Walkthrough</a:t>
            </a:r>
          </a:p>
        </p:txBody>
      </p:sp>
      <p:pic>
        <p:nvPicPr>
          <p:cNvPr id="2052" name="Picture 4" descr="What To Know About Right To Repair">
            <a:extLst>
              <a:ext uri="{FF2B5EF4-FFF2-40B4-BE49-F238E27FC236}">
                <a16:creationId xmlns:a16="http://schemas.microsoft.com/office/drawing/2014/main" id="{78D759C3-AB00-7046-6A60-BD02008AAC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8278"/>
          <a:stretch>
            <a:fillRect/>
          </a:stretch>
        </p:blipFill>
        <p:spPr bwMode="auto">
          <a:xfrm>
            <a:off x="4473136" y="2167721"/>
            <a:ext cx="7352395" cy="37291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37B4DBB-E087-FA6E-7CD8-54AB3C741F07}"/>
              </a:ext>
            </a:extLst>
          </p:cNvPr>
          <p:cNvSpPr txBox="1"/>
          <p:nvPr/>
        </p:nvSpPr>
        <p:spPr>
          <a:xfrm>
            <a:off x="447472" y="2140085"/>
            <a:ext cx="3764605" cy="5230599"/>
          </a:xfrm>
          <a:prstGeom prst="rect">
            <a:avLst/>
          </a:prstGeom>
          <a:noFill/>
        </p:spPr>
        <p:txBody>
          <a:bodyPr wrap="square" rtlCol="0">
            <a:spAutoFit/>
          </a:bodyPr>
          <a:lstStyle/>
          <a:p>
            <a:pPr>
              <a:lnSpc>
                <a:spcPct val="150000"/>
              </a:lnSpc>
            </a:pPr>
            <a:r>
              <a:rPr lang="en-US" sz="2500"/>
              <a:t>Key Deliverables:</a:t>
            </a:r>
          </a:p>
          <a:p>
            <a:pPr marL="342900" indent="-342900">
              <a:lnSpc>
                <a:spcPct val="150000"/>
              </a:lnSpc>
              <a:buFont typeface="+mj-lt"/>
              <a:buAutoNum type="arabicPeriod"/>
            </a:pPr>
            <a:r>
              <a:rPr lang="en-US" sz="2500" dirty="0"/>
              <a:t>EDA </a:t>
            </a:r>
          </a:p>
          <a:p>
            <a:pPr marL="342900" indent="-342900">
              <a:lnSpc>
                <a:spcPct val="150000"/>
              </a:lnSpc>
              <a:buFont typeface="+mj-lt"/>
              <a:buAutoNum type="arabicPeriod"/>
            </a:pPr>
            <a:r>
              <a:rPr lang="en-US" sz="2500" dirty="0"/>
              <a:t>Data Visualizations</a:t>
            </a:r>
          </a:p>
          <a:p>
            <a:pPr marL="342900" indent="-342900">
              <a:lnSpc>
                <a:spcPct val="150000"/>
              </a:lnSpc>
              <a:buFont typeface="+mj-lt"/>
              <a:buAutoNum type="arabicPeriod"/>
            </a:pPr>
            <a:r>
              <a:rPr lang="en-US" sz="2500" dirty="0"/>
              <a:t>Data Cleaning and Transformation</a:t>
            </a:r>
          </a:p>
          <a:p>
            <a:pPr marL="342900" indent="-342900">
              <a:lnSpc>
                <a:spcPct val="150000"/>
              </a:lnSpc>
              <a:buFont typeface="+mj-lt"/>
              <a:buAutoNum type="arabicPeriod"/>
            </a:pPr>
            <a:r>
              <a:rPr lang="en-US" sz="2500" dirty="0"/>
              <a:t>Machine Learning</a:t>
            </a:r>
          </a:p>
          <a:p>
            <a:pPr marL="342900" indent="-342900">
              <a:lnSpc>
                <a:spcPct val="150000"/>
              </a:lnSpc>
              <a:buFont typeface="+mj-lt"/>
              <a:buAutoNum type="arabicPeriod"/>
            </a:pPr>
            <a:r>
              <a:rPr lang="en-US" sz="2500" dirty="0"/>
              <a:t>Data Splitting &amp; Testing</a:t>
            </a:r>
          </a:p>
          <a:p>
            <a:pPr marL="342900" indent="-342900">
              <a:lnSpc>
                <a:spcPct val="150000"/>
              </a:lnSpc>
              <a:buFont typeface="+mj-lt"/>
              <a:buAutoNum type="arabicPeriod"/>
            </a:pPr>
            <a:endParaRPr lang="en-US" sz="2500" dirty="0"/>
          </a:p>
          <a:p>
            <a:pPr marL="342900" indent="-342900">
              <a:lnSpc>
                <a:spcPct val="150000"/>
              </a:lnSpc>
              <a:buFont typeface="+mj-lt"/>
              <a:buAutoNum type="arabicPeriod"/>
            </a:pPr>
            <a:endParaRPr lang="en-US" sz="2500" dirty="0"/>
          </a:p>
        </p:txBody>
      </p:sp>
    </p:spTree>
    <p:extLst>
      <p:ext uri="{BB962C8B-B14F-4D97-AF65-F5344CB8AC3E}">
        <p14:creationId xmlns:p14="http://schemas.microsoft.com/office/powerpoint/2010/main" val="1756301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07F8F-6980-0C64-72D0-4212A419413C}"/>
              </a:ext>
            </a:extLst>
          </p:cNvPr>
          <p:cNvSpPr>
            <a:spLocks noGrp="1"/>
          </p:cNvSpPr>
          <p:nvPr>
            <p:ph type="title"/>
          </p:nvPr>
        </p:nvSpPr>
        <p:spPr/>
        <p:txBody>
          <a:bodyPr/>
          <a:lstStyle/>
          <a:p>
            <a:r>
              <a:rPr lang="en-US" dirty="0"/>
              <a:t>Challenges &amp; Learnings</a:t>
            </a:r>
          </a:p>
        </p:txBody>
      </p:sp>
      <p:sp>
        <p:nvSpPr>
          <p:cNvPr id="3" name="Content Placeholder 2">
            <a:extLst>
              <a:ext uri="{FF2B5EF4-FFF2-40B4-BE49-F238E27FC236}">
                <a16:creationId xmlns:a16="http://schemas.microsoft.com/office/drawing/2014/main" id="{AA6C2315-D63F-5A41-AAC1-D3249D14F4DE}"/>
              </a:ext>
            </a:extLst>
          </p:cNvPr>
          <p:cNvSpPr>
            <a:spLocks noGrp="1"/>
          </p:cNvSpPr>
          <p:nvPr>
            <p:ph idx="1"/>
          </p:nvPr>
        </p:nvSpPr>
        <p:spPr>
          <a:xfrm>
            <a:off x="838200" y="1825625"/>
            <a:ext cx="5257800" cy="4224979"/>
          </a:xfrm>
        </p:spPr>
        <p:txBody>
          <a:bodyPr>
            <a:normAutofit/>
          </a:bodyPr>
          <a:lstStyle/>
          <a:p>
            <a:pPr marL="0" indent="0">
              <a:buNone/>
            </a:pPr>
            <a:r>
              <a:rPr lang="en-US" b="1" dirty="0"/>
              <a:t>Challenges:</a:t>
            </a:r>
          </a:p>
          <a:p>
            <a:r>
              <a:rPr lang="en-US" dirty="0"/>
              <a:t>Inconsistent and missing data</a:t>
            </a:r>
          </a:p>
          <a:p>
            <a:r>
              <a:rPr lang="en-US" dirty="0"/>
              <a:t>Small datasets limit accuracy</a:t>
            </a:r>
          </a:p>
          <a:p>
            <a:r>
              <a:rPr lang="en-US" dirty="0"/>
              <a:t>Model failures during testing</a:t>
            </a:r>
          </a:p>
          <a:p>
            <a:r>
              <a:rPr lang="en-US" dirty="0"/>
              <a:t>Choosing between meaningful visualizations</a:t>
            </a:r>
          </a:p>
          <a:p>
            <a:endParaRPr lang="en-US" dirty="0"/>
          </a:p>
        </p:txBody>
      </p:sp>
      <p:sp>
        <p:nvSpPr>
          <p:cNvPr id="4" name="Content Placeholder 2">
            <a:extLst>
              <a:ext uri="{FF2B5EF4-FFF2-40B4-BE49-F238E27FC236}">
                <a16:creationId xmlns:a16="http://schemas.microsoft.com/office/drawing/2014/main" id="{D995DC6A-6030-F64D-8D66-ED0B1686B411}"/>
              </a:ext>
            </a:extLst>
          </p:cNvPr>
          <p:cNvSpPr txBox="1">
            <a:spLocks/>
          </p:cNvSpPr>
          <p:nvPr/>
        </p:nvSpPr>
        <p:spPr>
          <a:xfrm>
            <a:off x="6096000" y="1825625"/>
            <a:ext cx="5257800" cy="42249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Learnings:</a:t>
            </a:r>
          </a:p>
          <a:p>
            <a:r>
              <a:rPr lang="en-US" dirty="0"/>
              <a:t>Importance of data cleaning</a:t>
            </a:r>
          </a:p>
          <a:p>
            <a:r>
              <a:rPr lang="en-US" dirty="0"/>
              <a:t>Visuals reveal price patterns quick</a:t>
            </a:r>
          </a:p>
          <a:p>
            <a:r>
              <a:rPr lang="en-US" dirty="0"/>
              <a:t>Machine learning exposes hidden relationships</a:t>
            </a:r>
          </a:p>
          <a:p>
            <a:r>
              <a:rPr lang="en-US" dirty="0"/>
              <a:t>Train/Splitting data prevents false conclusions</a:t>
            </a:r>
          </a:p>
        </p:txBody>
      </p:sp>
    </p:spTree>
    <p:extLst>
      <p:ext uri="{BB962C8B-B14F-4D97-AF65-F5344CB8AC3E}">
        <p14:creationId xmlns:p14="http://schemas.microsoft.com/office/powerpoint/2010/main" val="15518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CEC5A-357B-478F-CD3D-A0097E1F92F6}"/>
              </a:ext>
            </a:extLst>
          </p:cNvPr>
          <p:cNvSpPr>
            <a:spLocks noGrp="1"/>
          </p:cNvSpPr>
          <p:nvPr>
            <p:ph type="title"/>
          </p:nvPr>
        </p:nvSpPr>
        <p:spPr/>
        <p:txBody>
          <a:bodyPr/>
          <a:lstStyle/>
          <a:p>
            <a:r>
              <a:rPr lang="en-US" dirty="0"/>
              <a:t>Resources &amp; Attributions</a:t>
            </a:r>
          </a:p>
        </p:txBody>
      </p:sp>
      <p:sp>
        <p:nvSpPr>
          <p:cNvPr id="3" name="Content Placeholder 2">
            <a:extLst>
              <a:ext uri="{FF2B5EF4-FFF2-40B4-BE49-F238E27FC236}">
                <a16:creationId xmlns:a16="http://schemas.microsoft.com/office/drawing/2014/main" id="{DBE34705-D2B0-E6E4-22E5-A7601CCEB2C6}"/>
              </a:ext>
            </a:extLst>
          </p:cNvPr>
          <p:cNvSpPr>
            <a:spLocks noGrp="1"/>
          </p:cNvSpPr>
          <p:nvPr>
            <p:ph idx="1"/>
          </p:nvPr>
        </p:nvSpPr>
        <p:spPr/>
        <p:txBody>
          <a:bodyPr/>
          <a:lstStyle/>
          <a:p>
            <a:r>
              <a:rPr lang="en-US" dirty="0">
                <a:hlinkClick r:id="rId2"/>
              </a:rPr>
              <a:t>https://carmd.com/pages/vehicle-health-index</a:t>
            </a:r>
            <a:endParaRPr lang="en-US" dirty="0"/>
          </a:p>
          <a:p>
            <a:r>
              <a:rPr lang="en-US" dirty="0">
                <a:hlinkClick r:id="rId3"/>
              </a:rPr>
              <a:t>https://fred.stlouisfed.org/series/CUSR0000SETD</a:t>
            </a:r>
            <a:endParaRPr lang="en-US" dirty="0"/>
          </a:p>
          <a:p>
            <a:r>
              <a:rPr lang="en-US" dirty="0">
                <a:hlinkClick r:id="rId4"/>
              </a:rPr>
              <a:t>https://www.kaggle.com/datasets/shorooq77/car-parts-price-estimation</a:t>
            </a:r>
            <a:endParaRPr lang="en-US" dirty="0"/>
          </a:p>
          <a:p>
            <a:r>
              <a:rPr lang="en-US"/>
              <a:t>Me</a:t>
            </a:r>
            <a:endParaRPr lang="en-US" dirty="0"/>
          </a:p>
          <a:p>
            <a:endParaRPr lang="en-US" dirty="0"/>
          </a:p>
          <a:p>
            <a:endParaRPr lang="en-US" dirty="0"/>
          </a:p>
        </p:txBody>
      </p:sp>
    </p:spTree>
    <p:extLst>
      <p:ext uri="{BB962C8B-B14F-4D97-AF65-F5344CB8AC3E}">
        <p14:creationId xmlns:p14="http://schemas.microsoft.com/office/powerpoint/2010/main" val="41005915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878</TotalTime>
  <Words>622</Words>
  <Application>Microsoft Office PowerPoint</Application>
  <PresentationFormat>Widescreen</PresentationFormat>
  <Paragraphs>34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 Right to Repair Movement Analysis</vt:lpstr>
      <vt:lpstr>The Problem: New Vehicle Construction</vt:lpstr>
      <vt:lpstr>The Idea: </vt:lpstr>
      <vt:lpstr>The Development: Data Sources</vt:lpstr>
      <vt:lpstr>Demo/Walkthrough</vt:lpstr>
      <vt:lpstr>Challenges &amp; Learnings</vt:lpstr>
      <vt:lpstr>Resources &amp; Attributions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Mastruserio, Caleb (mastrucb)</dc:creator>
  <cp:lastModifiedBy>Caleb Mastruserio</cp:lastModifiedBy>
  <cp:revision>3</cp:revision>
  <dcterms:created xsi:type="dcterms:W3CDTF">2025-11-20T22:40:18Z</dcterms:created>
  <dcterms:modified xsi:type="dcterms:W3CDTF">2026-04-24T18:45:59Z</dcterms:modified>
</cp:coreProperties>
</file>